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01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15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156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0" y="109728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40880" y="160020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210312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52360" y="109728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52360" y="160020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52360" y="210312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109728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160020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210312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09728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60020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103120"/>
            <a:ext cx="109728" cy="109728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0058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JurisLens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48640" y="21031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Jurisdiction-Aware AI Credit Compliance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36576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718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RegTech Pte. Ltd.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Yulong (G2505383A)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Two Rule Books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🇺🇸  United States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🇸🇬  Singapore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in MRM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 (OCC 2026-13)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Yes (MAS 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four-fifths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parity + Equal opportunity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letter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reasons, no SHAP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SHAP breakdown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sign-off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30852"/>
            <a:ext cx="8229600" cy="59436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5308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 compliance tool designed for one jurisdiction silently fails in the other.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56032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560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CCOs lack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for MAS 2024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MRM requirements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56032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560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 hrs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 institution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56032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71600"/>
            <a:ext cx="2560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24K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35040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ACV per client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(50% automation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1325880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zh-C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2024 AI MRM creates new obligations with no off-the-shelf tooling available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OCC 2026-13 GenAI exclusion creates a divergence that dual-jurisdiction banks have not yet mapped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Window for a specialist tool is open before large incumbents build this 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Functions, One Platform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51760" cy="338328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65176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Assessment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correct fairness test for each jurisdiction.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4/5ths disparate impact rule (Reg 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SG: MAS FEAT dual metric (demographic parity + equal opportunity)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→ different verdicts when rules differ.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2651760" cy="338328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417320"/>
            <a:ext cx="265176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Action Notices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26974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format: up to 4 principal reasons, no SHAP required.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format: full SHAP factor rankings, human-review right, PDPA disclosure.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Examination-ready templates (legal review required before issuance).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417320"/>
            <a:ext cx="2651760" cy="3383280"/>
          </a:xfrm>
          <a:prstGeom prst="rect">
            <a:avLst/>
          </a:prstGeom>
          <a:solidFill>
            <a:srgbClr val="FFFB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417320"/>
            <a:ext cx="265176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807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Examination-Readiness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80760" y="26974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jurisdiction-specific regulatory checklist.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drift detection with calibrated triggers (US: 0.25 / SG: 0.20).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overdue validations, missing board approvals, GenAI inventory gaps.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ClearPath Wins on Jurisdiction Config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029200" cy="33832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029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Versioned Rule Registry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is annotated with: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regulatory instrument it derives from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effective date it took effect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 flag where the parameter reflects a political choice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any historical assessment can be reconstructed, which rules were active when a denial notice was generated three years ago.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adding a new jurisdiction (FCA, OSFI) requires only a new configuration block — no code changes to the core engine.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3108960" cy="155448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417320"/>
            <a:ext cx="310896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Edge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965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former MAS examiners know what MAS actually looks for in an examination, not just what is written in guidance documents.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3108960"/>
            <a:ext cx="3108960" cy="169164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3108960"/>
            <a:ext cx="310896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Competitors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store regulatory rules as flat configuration files unversioned. They cannot answer: "What rules governed this model in Q1 2025?"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Showed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10389"/>
              </p:ext>
            </p:extLst>
          </p:nvPr>
        </p:nvGraphicFramePr>
        <p:xfrm>
          <a:off x="457200" y="960120"/>
          <a:ext cx="8229600" cy="355701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🇺🇸  US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🇸🇬  SG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 divergences identified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material differences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AUC (GBM on synthetic data)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(1 violation)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(4 violations)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notice — applicant APP-00139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bullet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SHAP scores + human-review 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 = 0.22 → required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Revalidation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in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Exam-readiness: critical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57200" y="4539996"/>
            <a:ext cx="8229600" cy="384048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punchline: a bank running only the US check would miss 3 of 4 SG fairness violations and would not know its model needed revalidation under Singapore rules.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BOUNDARIES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JurisLens Does Not Do And Why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5389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Regulatory checkbox tracker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145389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CCOs to optimise for documentation, not substance — we believe this is actively harmful to genuine risk management.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03120"/>
            <a:ext cx="54864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3969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Automatic model retraining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213969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requires human judgement about model design and data quality. The tool flags; the institution decides.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88920"/>
            <a:ext cx="54864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2549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EU AI Act module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282549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being operationalised. A v0.1 product making guesses would erode trust in our accuracy. 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8412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74720"/>
            <a:ext cx="54864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1129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Consumer-facing portal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54680" y="351129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serve the CCO. A consumer product is a different design problem with different legal and UX requirements.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841248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160520"/>
            <a:ext cx="54864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9709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GenAI assessment (US)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54680" y="419709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2026-13 explicitly excludes GenAI from MRM scope. We encode the rule as written, even where we disagree with the policy.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claims to do everything does nothing well. We do two jurisdictions' credit model compliance deeply.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Add With More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10789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41148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411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490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SHAP Stability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83794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SHAP rank-order stability by income quartile over time and catches subgroup-specific drift before aggregate metrics flag it. A model that looks stable overall may be erratic for low-income applicants.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87752"/>
            <a:ext cx="4206240" cy="10789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87752"/>
            <a:ext cx="41148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87752"/>
            <a:ext cx="411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6609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OSFI E-23 2027 (Canada)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0083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effective date makes this a near-term priority. Architecture already supports new jurisdiction config blocks without core engine changes.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4206240" cy="10789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58184"/>
            <a:ext cx="41148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758184"/>
            <a:ext cx="411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38313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Consumer Duty (UK)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17880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Four-outcome framework maps directly to our assessment architecture. The UK module would add FCA's outcome monitoring requirements.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417320"/>
            <a:ext cx="4206240" cy="10789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417320"/>
            <a:ext cx="41148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417320"/>
            <a:ext cx="411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57800" y="1490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 Alerts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183794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config review triggers tied to official instrument feeds from OCC, MAS, and FCA. Currently relying on human reviewer checking dates.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587752"/>
            <a:ext cx="4206240" cy="10789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587752"/>
            <a:ext cx="41148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587752"/>
            <a:ext cx="411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257800" y="26609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30083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would the approval rate need to change before the fairness verdict flips?" Visualised as a threshold frontier, which is useful for CCO conversations with model owners.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Proposition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(Annual SaaS Licence)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41148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(SGD)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MRM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module (add-on)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(SG + 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jurisdictions (future)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783080"/>
            <a:ext cx="4023360" cy="960120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856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</a:t>
            </a:r>
            <a:endParaRPr lang="en-US" sz="1200" dirty="0"/>
          </a:p>
        </p:txBody>
      </p:sp>
      <p:sp>
        <p:nvSpPr>
          <p:cNvPr id="7" name="Text 7"/>
          <p:cNvSpPr/>
          <p:nvPr/>
        </p:nvSpPr>
        <p:spPr>
          <a:xfrm>
            <a:off x="6583680" y="183794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270K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37760" y="2313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clients @ SGD 18K avg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834640"/>
            <a:ext cx="4023360" cy="960120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ARR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28895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8M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37760" y="3364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clients, SG+HK+AU+US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3886200"/>
            <a:ext cx="4023360" cy="9601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37760" y="39593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0" y="394106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937760" y="4416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services component by design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Mitigations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09090"/>
              </p:ext>
            </p:extLst>
          </p:nvPr>
        </p:nvGraphicFramePr>
        <p:xfrm>
          <a:off x="457200" y="1280160"/>
          <a:ext cx="8229600" cy="35661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Jurisdictional misconfiguration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jurisdiction confirmation at session start; audit log per assessment; UI warning for dual-jurisdiction institutions.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rule 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last_reviewed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 date on each config parameter; planned automated regulatory change alert system.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copies our config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effects, MAS regulatory relationships, examiner founder credibility.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 changes guidance significantly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update cycle; founders continuously track MAS consultations and pre-read all guidance papers.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over-reliance; skips legal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 of service; explicit notices on all outputs stating legal review is required before issuance.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3479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-214884"/>
            <a:ext cx="9144000" cy="1005840"/>
          </a:xfrm>
          <a:prstGeom prst="rect">
            <a:avLst/>
          </a:prstGeom>
          <a:solidFill>
            <a:srgbClr val="16215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15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3609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Argument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21892"/>
            <a:ext cx="32004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1333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using AI in credit decisions across jurisdictions face a regulatory environment becoming </a:t>
            </a:r>
            <a:r>
              <a:rPr lang="en-US" sz="1500" b="1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r>
              <a:rPr lang="en-US" sz="15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divergent — not less.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913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717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is deregulating AI model governance (OCC 2026-13).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7462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6471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is tightening it (MAS 2024 — board accountability, GenAI in scope, SHAP in denial letters).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010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12267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OSFI E-23 takes effect in 2027. The EU AI Act is live.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118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tool that does not know which jurisdiction it operates in is not a compliance tool. It is a liability.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JurisLens makes the differences explicit, auditable, and traceable.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1174</Words>
  <Application>Microsoft Office PowerPoint</Application>
  <PresentationFormat>全屏显示(16:9)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JurisLens — Jurisdiction-Aware AI Credit Compliance</dc:title>
  <dc:subject>PptxGenJS Presentation</dc:subject>
  <dc:creator>ClearPath RegTech</dc:creator>
  <cp:lastModifiedBy>Yulong 彭</cp:lastModifiedBy>
  <cp:revision>14</cp:revision>
  <dcterms:created xsi:type="dcterms:W3CDTF">2026-05-20T04:43:14Z</dcterms:created>
  <dcterms:modified xsi:type="dcterms:W3CDTF">2026-05-20T07:19:12Z</dcterms:modified>
</cp:coreProperties>
</file>